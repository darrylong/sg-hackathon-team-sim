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team. Two problems, one idea running through both: use the data to decide where people should spend their attention, and be honest about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is a cost, not accuracy. A misrouted urgent ticket is very expensive, so the system has to know when it is unsure and hand off to a human, within the 15% desk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shaped the model: P1 is rare, so classes are balanced; product decides the team in many cases, so product is part of the text; the customer's severity tag is only a weak hint. Macro-F1 treats every class equally, so the model cannot score well by ignoring rare P1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idea: we do not try to be right as often as possible, we try to make the cheapest mistakes. A wrong P1 costs 8, a hand-off costs 1, so we are most careful exactly where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two or three rows, then offer to show them live in the app. Be honest about the two the model could not route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outlier: one $37.8M order line, more than 40 times bigger than any other, would make EMEA and GreenLake look like they boomed. Then seasonality, concentration in AMS, and the margin opportunity in GreenLake.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reason: "Revenue fell 5 quarters in a row; -61% vs the same quarter last year; last order 5 days ago" for a Platinum partner. History cannot teach a model a trend that never happened before, so the fade boost is a targeted early warning; it cost only 0.001 AUC on history. Honest limit: most quiet partners come back, so a flag means "call this partner", not "they are gone".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quarters is too little for a complex model, so we used three explainable methods and tested each by pretending it was an earlier quarter. The range comes from those real past errors. Risk to call out: AMS is 63% of the forecast; if its growth slows, the total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live demo here. Problem 03: paste a normal ticket, then the aircon curveball. Problem 05: Insights tab, then At-risk filtered to Fading, then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shared idea: spend human attention where the data says it matters, and say plainly where the models are unsure.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9E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1098930"/>
            <a:ext cx="105664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E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871050"/>
            <a:ext cx="10566433" cy="417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E243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webp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83" cy="6858000"/>
          </a:xfrm>
          <a:prstGeom prst="rect">
            <a:avLst/>
          </a:prstGeom>
          <a:solidFill>
            <a:srgbClr val="2BB39A"/>
          </a:solidFill>
          <a:ln/>
        </p:spPr>
      </p:sp>
      <p:sp>
        <p:nvSpPr>
          <p:cNvPr id="3" name="Text 1"/>
          <p:cNvSpPr/>
          <p:nvPr/>
        </p:nvSpPr>
        <p:spPr>
          <a:xfrm>
            <a:off x="812767" y="1460500"/>
            <a:ext cx="1088993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2BB39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HPE AI HACKATHON · SINGAPORE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67" y="1943075"/>
            <a:ext cx="10889889" cy="278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51"/>
              </a:lnSpc>
              <a:buNone/>
            </a:pPr>
            <a:r>
              <a:rPr lang="en-US" sz="4144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Intelligent Support Ticket Triage</a:t>
            </a:r>
            <a:endParaRPr lang="en-US" sz="4144" dirty="0"/>
          </a:p>
          <a:p>
            <a:pPr algn="l" indent="0" marL="0">
              <a:lnSpc>
                <a:spcPts val="4351"/>
              </a:lnSpc>
              <a:buNone/>
            </a:pPr>
            <a:endParaRPr lang="en-US" sz="4144" dirty="0"/>
          </a:p>
          <a:p>
            <a:pPr algn="l" indent="0" marL="0">
              <a:lnSpc>
                <a:spcPts val="4351"/>
              </a:lnSpc>
              <a:buNone/>
            </a:pPr>
            <a:r>
              <a:rPr lang="en-US" sz="4144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Performance Analytics</a:t>
            </a:r>
            <a:endParaRPr lang="en-US" sz="4144" dirty="0"/>
          </a:p>
        </p:txBody>
      </p:sp>
      <p:sp>
        <p:nvSpPr>
          <p:cNvPr id="5" name="Text 3"/>
          <p:cNvSpPr/>
          <p:nvPr/>
        </p:nvSpPr>
        <p:spPr>
          <a:xfrm>
            <a:off x="812767" y="4940267"/>
            <a:ext cx="10889933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ED8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Team SIM (VIP) · Priyashri Narendran, Mothisha Kajendran, Akash Damodaran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022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Every ticket is routed, or handed to a human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1823599"/>
            <a:ext cx="5494105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From a ticket's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subject, body and product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we predict four things: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category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priority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(P1–P4), owning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team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and customer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sentiment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67" y="2890283"/>
            <a:ext cx="5494105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Then one decision per ticket: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route it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or send it to the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human triage desk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which can take at most </a:t>
            </a:r>
            <a:r>
              <a:rPr lang="en-US" sz="16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15%</a:t>
            </a:r>
            <a:r>
              <a:rPr lang="en-US" sz="16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of tickets.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3816" y="1834182"/>
          <a:ext cx="4815417" cy="1784656"/>
        </p:xfrm>
        <a:graphic>
          <a:graphicData uri="http://schemas.openxmlformats.org/drawingml/2006/table">
            <a:tbl>
              <a:tblPr/>
              <a:tblGrid>
                <a:gridCol w="1492779"/>
                <a:gridCol w="1107546"/>
                <a:gridCol w="1107546"/>
                <a:gridCol w="1107546"/>
              </a:tblGrid>
              <a:tr h="63285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Real priority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Right team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Wrong team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To human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P1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8531E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8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1.0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DA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P2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2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0.5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P3 / P4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1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0.3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53233" y="3745838"/>
            <a:ext cx="4970780" cy="27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3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 wrong P1 costs as much as eight P1 hand-offs.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767" y="6238295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098930"/>
            <a:ext cx="10883460" cy="48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22"/>
              </a:lnSpc>
              <a:buNone/>
            </a:pPr>
            <a:r>
              <a:rPr lang="en-US" sz="3150" b="1" i="0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What 30,000 tickets taught our models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5942" y="1790601"/>
            <a:ext cx="2520958" cy="1421077"/>
          </a:xfrm>
          <a:prstGeom prst="roundRect">
            <a:avLst>
              <a:gd name="adj" fmla="val 6926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825" y="1970484"/>
            <a:ext cx="2226027" cy="408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2"/>
              </a:lnSpc>
              <a:buNone/>
            </a:pPr>
            <a:r>
              <a:rPr lang="en-US" sz="2748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11%</a:t>
            </a:r>
            <a:endParaRPr lang="en-US" sz="2748" dirty="0"/>
          </a:p>
        </p:txBody>
      </p:sp>
      <p:sp>
        <p:nvSpPr>
          <p:cNvPr id="6" name="Text 4"/>
          <p:cNvSpPr/>
          <p:nvPr/>
        </p:nvSpPr>
        <p:spPr>
          <a:xfrm>
            <a:off x="995825" y="2404607"/>
            <a:ext cx="2226027" cy="65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of tickets are P1: the rarest priority, and the costliest to get wrong.</a:t>
            </a:r>
            <a:endParaRPr lang="en-US" sz="1181" dirty="0"/>
          </a:p>
        </p:txBody>
      </p:sp>
      <p:sp>
        <p:nvSpPr>
          <p:cNvPr id="7" name="Shape 5"/>
          <p:cNvSpPr/>
          <p:nvPr/>
        </p:nvSpPr>
        <p:spPr>
          <a:xfrm>
            <a:off x="3495634" y="1790601"/>
            <a:ext cx="2521000" cy="1421077"/>
          </a:xfrm>
          <a:prstGeom prst="roundRect">
            <a:avLst>
              <a:gd name="adj" fmla="val 6926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5517" y="1970484"/>
            <a:ext cx="2226069" cy="408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2"/>
              </a:lnSpc>
              <a:buNone/>
            </a:pPr>
            <a:r>
              <a:rPr lang="en-US" sz="2748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 teams</a:t>
            </a:r>
            <a:endParaRPr lang="en-US" sz="2748" dirty="0"/>
          </a:p>
        </p:txBody>
      </p:sp>
      <p:sp>
        <p:nvSpPr>
          <p:cNvPr id="9" name="Text 7"/>
          <p:cNvSpPr/>
          <p:nvPr/>
        </p:nvSpPr>
        <p:spPr>
          <a:xfrm>
            <a:off x="3675517" y="2404607"/>
            <a:ext cx="2226069" cy="65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share Firmware tickets, so category alone can't pick the team.</a:t>
            </a:r>
            <a:endParaRPr lang="en-US" sz="1181" dirty="0"/>
          </a:p>
        </p:txBody>
      </p:sp>
      <p:sp>
        <p:nvSpPr>
          <p:cNvPr id="10" name="Shape 8"/>
          <p:cNvSpPr/>
          <p:nvPr/>
        </p:nvSpPr>
        <p:spPr>
          <a:xfrm>
            <a:off x="6175366" y="1790601"/>
            <a:ext cx="2520958" cy="1421077"/>
          </a:xfrm>
          <a:prstGeom prst="roundRect">
            <a:avLst>
              <a:gd name="adj" fmla="val 6926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250" y="1970484"/>
            <a:ext cx="2226027" cy="416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55250" y="2412420"/>
            <a:ext cx="222602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of tickets marked "Critical" by the customer were really P1.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58" y="1790601"/>
            <a:ext cx="2521000" cy="1421077"/>
          </a:xfrm>
          <a:prstGeom prst="roundRect">
            <a:avLst>
              <a:gd name="adj" fmla="val 6926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34942" y="1970484"/>
            <a:ext cx="2226069" cy="408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2"/>
              </a:lnSpc>
              <a:buNone/>
            </a:pPr>
            <a:r>
              <a:rPr lang="en-US" sz="2748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1,350</a:t>
            </a:r>
            <a:endParaRPr lang="en-US" sz="2748" dirty="0"/>
          </a:p>
        </p:txBody>
      </p:sp>
      <p:sp>
        <p:nvSpPr>
          <p:cNvPr id="15" name="Text 13"/>
          <p:cNvSpPr/>
          <p:nvPr/>
        </p:nvSpPr>
        <p:spPr>
          <a:xfrm>
            <a:off x="9034942" y="2404607"/>
            <a:ext cx="2226069" cy="65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8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Storage tickets went to Server-HW (local RAID): a team exception.</a:t>
            </a:r>
            <a:endParaRPr lang="en-US" sz="1181" dirty="0"/>
          </a:p>
        </p:txBody>
      </p:sp>
      <p:sp>
        <p:nvSpPr>
          <p:cNvPr id="16" name="Shape 14"/>
          <p:cNvSpPr/>
          <p:nvPr/>
        </p:nvSpPr>
        <p:spPr>
          <a:xfrm>
            <a:off x="815942" y="3446602"/>
            <a:ext cx="6953349" cy="2156205"/>
          </a:xfrm>
          <a:prstGeom prst="roundRect">
            <a:avLst>
              <a:gd name="adj" fmla="val 4565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250" y="3651910"/>
            <a:ext cx="673901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Four models, one shared text recipe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1250" y="3997316"/>
            <a:ext cx="6739014" cy="264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· Combine</a:t>
            </a: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product, channel, subject and body into one text.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1250" y="4338298"/>
            <a:ext cx="6739014" cy="504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 · Read it two ways:</a:t>
            </a: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word TF-IDF plus 2–5 letter chunks, which survive typos and mixed languages.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1250" y="4918686"/>
            <a:ext cx="6739014" cy="504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 · Classify:</a:t>
            </a: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one logistic regression per task; its probabilities drive the hand-off decision.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87816" y="3454010"/>
          <a:ext cx="3291417" cy="1919676"/>
        </p:xfrm>
        <a:graphic>
          <a:graphicData uri="http://schemas.openxmlformats.org/drawingml/2006/table">
            <a:tbl>
              <a:tblPr/>
              <a:tblGrid>
                <a:gridCol w="1974850"/>
                <a:gridCol w="1316567"/>
              </a:tblGrid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Task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Macro-F1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2E6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Category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0.865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5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Priority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0.759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Team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0.906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Sentiment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0.869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8077233" y="5449878"/>
            <a:ext cx="3401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On 6,000 held-out tickets the models never saw.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2767" y="6238295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9C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02278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Hand off when it's cheaper than guessing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1823599"/>
            <a:ext cx="6802205" cy="939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For each ticket we compare the </a:t>
            </a:r>
            <a:r>
              <a:rPr lang="en-US" sz="1600" b="1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expected cost of routing</a:t>
            </a:r>
            <a:r>
              <a:rPr lang="en-US" sz="16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(chance the team is wrong × penalty) with the </a:t>
            </a:r>
            <a:r>
              <a:rPr lang="en-US" sz="1600" b="1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fixed hand-off cost</a:t>
            </a:r>
            <a:r>
              <a:rPr lang="en-US" sz="16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both weighted by the predicted priority.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3887" y="2915667"/>
            <a:ext cx="672346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Tickets with the biggest saving go to humans, up to 14.5% (cap: 15%)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Tickets under 10 words always go to a human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GreenLake SSO, MFA, API-key and role issues go to Account-Admin, a README rule we confirmed in the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23233" y="1823599"/>
            <a:ext cx="3556000" cy="3129194"/>
          </a:xfrm>
          <a:prstGeom prst="roundRect">
            <a:avLst>
              <a:gd name="adj" fmla="val 4059"/>
            </a:avLst>
          </a:prstGeom>
          <a:solidFill>
            <a:srgbClr val="17534E"/>
          </a:solidFill>
          <a:ln/>
        </p:spPr>
      </p:sp>
      <p:sp>
        <p:nvSpPr>
          <p:cNvPr id="7" name="Text 5"/>
          <p:cNvSpPr/>
          <p:nvPr/>
        </p:nvSpPr>
        <p:spPr>
          <a:xfrm>
            <a:off x="8102616" y="2102982"/>
            <a:ext cx="308715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Routing cost, never abstaining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02616" y="2410312"/>
            <a:ext cx="3087150" cy="695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0.174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102616" y="3157057"/>
            <a:ext cx="308715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With our hand-off policy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02616" y="3464387"/>
            <a:ext cx="3087150" cy="695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7FD9C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0.149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102616" y="4211132"/>
            <a:ext cx="3087150" cy="487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About 15% lower, while sending only 14.5% of tickets to the desk.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767" y="6238295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9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02277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How it handles tricky tickets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1808756"/>
          <a:ext cx="10555883" cy="2687546"/>
        </p:xfrm>
        <a:graphic>
          <a:graphicData uri="http://schemas.openxmlformats.org/drawingml/2006/table">
            <a:tbl>
              <a:tblPr/>
              <a:tblGrid>
                <a:gridCol w="5489059"/>
                <a:gridCol w="2111177"/>
                <a:gridCol w="2955647"/>
              </a:tblGrid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Ticket (excerpt)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Trap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Our result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"Wow, what an achievement… rebooted itself four times"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Sarcasm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Angry, Server-HW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"URGENT!!! what's the part number for the front bezel?"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Fake urgency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P4, not P1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"teh vlan 20 isnt pasing trafic sinc upgrde"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Typos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Networking, Network-Support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"SSO broken after cert rotation" (GreenLake)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Team exception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Access, Account-Admin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"The aircon in our server room died"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Unknown category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Sent to human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"it broke" · "it's doing it again"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No information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Sent to human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67" y="4724877"/>
            <a:ext cx="10883460" cy="504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Curveball file: </a:t>
            </a:r>
            <a:r>
              <a:rPr lang="en-US" sz="13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13 of 15</a:t>
            </a: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handled as intended in our own review. The other 2 (a German ticket and an all-caps rant) were safely sent to humans.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2767" y="6238295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Ticket Triage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3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ANALYTICS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02277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Headline numbers mislead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01347"/>
            <a:ext cx="5200691" cy="1406236"/>
          </a:xfrm>
          <a:prstGeom prst="roundRect">
            <a:avLst>
              <a:gd name="adj" fmla="val 6999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250" y="2006656"/>
            <a:ext cx="4933777" cy="47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A853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$37.8M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1250" y="2504446"/>
            <a:ext cx="493377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One order line inflated EMEA's Q1 2026 by 15%. We excluded it from every trend and forecast.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5366" y="1801347"/>
            <a:ext cx="5200691" cy="1406236"/>
          </a:xfrm>
          <a:prstGeom prst="roundRect">
            <a:avLst>
              <a:gd name="adj" fmla="val 6999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675" y="2006656"/>
            <a:ext cx="4933777" cy="47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−3% to −5%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380675" y="2504446"/>
            <a:ext cx="493377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Revenue dips from Q2 to Q3 every year, so a Q3 plan must not copy Q2.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42" y="3366319"/>
            <a:ext cx="5200691" cy="1655151"/>
          </a:xfrm>
          <a:prstGeom prst="roundRect">
            <a:avLst>
              <a:gd name="adj" fmla="val 5947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250" y="3571627"/>
            <a:ext cx="4933777" cy="47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58%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021250" y="4069414"/>
            <a:ext cx="4933777" cy="772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of revenue comes from AMS, growing +41% year on year and led by Platinum distributors: growth, but concentrated.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5366" y="3366319"/>
            <a:ext cx="5200691" cy="1655151"/>
          </a:xfrm>
          <a:prstGeom prst="roundRect">
            <a:avLst>
              <a:gd name="adj" fmla="val 5947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0675" y="3571627"/>
            <a:ext cx="4933777" cy="47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89% vs 98%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80675" y="4069414"/>
            <a:ext cx="493377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target attainment for Silver vs Business. GreenLake earns the best margin (21.7%) on only 10% of revenue.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767" y="5253217"/>
            <a:ext cx="1088346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Every insight has its own chart in the live dashboard.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767" y="6238295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3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ANALYTICS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02277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Who will leave the channel in Q3?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801347"/>
            <a:ext cx="3143266" cy="1279070"/>
          </a:xfrm>
          <a:prstGeom prst="roundRect">
            <a:avLst>
              <a:gd name="adj" fmla="val 7695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825" y="1981231"/>
            <a:ext cx="2867004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1 · Time travel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825" y="2260575"/>
            <a:ext cx="286700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No churn labels exist, so we snapshot every past quarter and record who went quiet next.</a:t>
            </a:r>
            <a:endParaRPr lang="en-US" sz="12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89383" y="2364671"/>
            <a:ext cx="304767" cy="1523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24325" y="1801347"/>
            <a:ext cx="3143308" cy="1279070"/>
          </a:xfrm>
          <a:prstGeom prst="roundRect">
            <a:avLst>
              <a:gd name="adj" fmla="val 7695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4209" y="1981231"/>
            <a:ext cx="2867047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2 · Gap model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04209" y="2260575"/>
            <a:ext cx="286704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Gradient boosting learns that rare, irregular buyers who go silent are the ones who leave.</a:t>
            </a:r>
            <a:endParaRPr lang="en-US" sz="12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97808" y="2364671"/>
            <a:ext cx="304767" cy="15238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232750" y="1801347"/>
            <a:ext cx="3143308" cy="1279070"/>
          </a:xfrm>
          <a:prstGeom prst="roundRect">
            <a:avLst>
              <a:gd name="adj" fmla="val 7695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634" y="1981231"/>
            <a:ext cx="2867047" cy="253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 · Fade boost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412634" y="2260575"/>
            <a:ext cx="286704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New in 2026: 22 partners shrank 4+ quarters in a row (6 a year ago). We raise their risk.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3322753"/>
          <a:ext cx="6314116" cy="1535741"/>
        </p:xfrm>
        <a:graphic>
          <a:graphicData uri="http://schemas.openxmlformats.org/drawingml/2006/table">
            <a:tbl>
              <a:tblPr/>
              <a:tblGrid>
                <a:gridCol w="4419881"/>
                <a:gridCol w="1894235"/>
              </a:tblGrid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Ranking leavers (ROC-AUC)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Score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Our health score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0.870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A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Days since last order alone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0.695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Revenue trend alone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0.451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812767" y="4934685"/>
            <a:ext cx="6514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Tested on quarters the model never saw (2025 Q4 – 2026 Q1).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816" y="3322753"/>
          <a:ext cx="3926417" cy="1919676"/>
        </p:xfrm>
        <a:graphic>
          <a:graphicData uri="http://schemas.openxmlformats.org/drawingml/2006/table">
            <a:tbl>
              <a:tblPr/>
              <a:tblGrid>
                <a:gridCol w="2748492"/>
                <a:gridCol w="1177925"/>
              </a:tblGrid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91 partners flagged (3.5%)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Count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4DF"/>
                    </a:solidFill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Mixed signals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33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B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Gone quiet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30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Fading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18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935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Irregular buyer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2430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10</a:t>
                      </a:r>
                      <a:endParaRPr lang="en-US" sz="14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7442233" y="5318621"/>
            <a:ext cx="4055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Every flag comes with a plain-language reason.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12767" y="6238295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FD9C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ANALYTICS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1102277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Q3 2026 revenue forecast: $1.135B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1834181"/>
          <a:ext cx="6644307" cy="2052795"/>
        </p:xfrm>
        <a:graphic>
          <a:graphicData uri="http://schemas.openxmlformats.org/drawingml/2006/table">
            <a:tbl>
              <a:tblPr/>
              <a:tblGrid>
                <a:gridCol w="1461748"/>
                <a:gridCol w="1594634"/>
                <a:gridCol w="2126178"/>
                <a:gridCol w="1461748"/>
              </a:tblGrid>
              <a:tr h="41055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Region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Q3 2026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80% range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vs Q3 2025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</a:tr>
              <a:tr h="41055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APJ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$192M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$182–204M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+8%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55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EMEA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$227M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$215–241M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+8%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55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AMS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$715M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$675–758M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+43%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559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All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$1,135M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$1,071–1,202M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4F2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+28%</a:t>
                      </a:r>
                      <a:endParaRPr lang="en-US" sz="15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66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78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534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67" y="3963169"/>
            <a:ext cx="68545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9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All = sum of the three regions. Outlier order excluded.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823233" y="1823597"/>
            <a:ext cx="3556000" cy="2759108"/>
          </a:xfrm>
          <a:prstGeom prst="roundRect">
            <a:avLst>
              <a:gd name="adj" fmla="val 4603"/>
            </a:avLst>
          </a:prstGeom>
          <a:solidFill>
            <a:srgbClr val="17534E"/>
          </a:solidFill>
          <a:ln/>
        </p:spPr>
      </p:sp>
      <p:sp>
        <p:nvSpPr>
          <p:cNvPr id="7" name="Text 4"/>
          <p:cNvSpPr/>
          <p:nvPr/>
        </p:nvSpPr>
        <p:spPr>
          <a:xfrm>
            <a:off x="8077233" y="2077597"/>
            <a:ext cx="3139440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Average error, 4 past quarters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77233" y="2384927"/>
            <a:ext cx="3139440" cy="695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7FD9C4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3.0%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8077233" y="3131672"/>
            <a:ext cx="3139440" cy="1222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CFE3D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Average of 3 simple methods (seasonal growth, Q2→Q3 ratio, trend + season), corrected for half of their past over-forecast. Q3 is −4.1% vs Q2, in line with −5.2% last year.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767" y="6238292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C9C2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Partner Channel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D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6238292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Both problems · 9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67" y="812763"/>
            <a:ext cx="10889933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E2430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Two working apps the judges can try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67" y="5670513"/>
            <a:ext cx="10889933" cy="25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Each starts locally with one command documented in our README.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5942" y="1393806"/>
            <a:ext cx="5156167" cy="4044917"/>
          </a:xfrm>
          <a:prstGeom prst="roundRect">
            <a:avLst>
              <a:gd name="adj" fmla="val 2433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6634" y="1624496"/>
            <a:ext cx="48356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36B5B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03 · TRIAGE APP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6634" y="1939392"/>
            <a:ext cx="4835627" cy="983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Streamlit page → FastAPI backend → saved models. Paste a ticket or upload a CSV; see a clear </a:t>
            </a:r>
            <a:r>
              <a:rPr lang="en-US" sz="13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ROUTE</a:t>
            </a: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 or </a:t>
            </a:r>
            <a:r>
              <a:rPr lang="en-US" sz="1300" b="1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SEND TO HUMAN</a:t>
            </a: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, an escalation warning, and the words behind the decision.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26175" y="1393806"/>
            <a:ext cx="5156167" cy="4044917"/>
          </a:xfrm>
          <a:prstGeom prst="roundRect">
            <a:avLst>
              <a:gd name="adj" fmla="val 2433"/>
            </a:avLst>
          </a:prstGeom>
          <a:solidFill>
            <a:srgbClr val="FBFBF8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6867" y="1624496"/>
            <a:ext cx="48356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31E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PROBLEM 05 · CHANNEL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6867" y="1939392"/>
            <a:ext cx="4835627" cy="743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Streamlit + FastAPI. Overview, performance by region, tier and product, insights, at-risk partners with reasons, the Q3 forecast and a what-if on targets.</a:t>
            </a:r>
            <a:endParaRPr lang="en-US" sz="1300" dirty="0"/>
          </a:p>
        </p:txBody>
      </p:sp>
      <p:pic>
        <p:nvPicPr>
          <p:cNvPr id="11" name="Image 0" descr="Screenshot 2026-10-01 at 5.29.37 PM.png">    </p:cNvPr>
          <p:cNvPicPr>
            <a:picLocks noChangeAspect="1"/>
          </p:cNvPicPr>
          <p:nvPr/>
        </p:nvPicPr>
        <p:blipFill>
          <a:blip r:embed="rId1"/>
          <a:srcRect l="918" r="918" t="0" b="0"/>
          <a:stretch/>
        </p:blipFill>
        <p:spPr>
          <a:xfrm>
            <a:off x="1047750" y="2997188"/>
            <a:ext cx="4737736" cy="2235936"/>
          </a:xfrm>
          <a:prstGeom prst="rect">
            <a:avLst/>
          </a:prstGeom>
        </p:spPr>
      </p:pic>
      <p:pic>
        <p:nvPicPr>
          <p:cNvPr id="12" name="Image 1" descr="Screenshot 2026-10-01 at 5.30.03 PM.png">    </p:cNvPr>
          <p:cNvPicPr>
            <a:picLocks noChangeAspect="1"/>
          </p:cNvPicPr>
          <p:nvPr/>
        </p:nvPicPr>
        <p:blipFill>
          <a:blip r:embed="rId2"/>
          <a:srcRect l="0" r="0" t="4006" b="4006"/>
          <a:stretch/>
        </p:blipFill>
        <p:spPr>
          <a:xfrm>
            <a:off x="6457941" y="2762250"/>
            <a:ext cx="4705490" cy="2473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383" cy="6858000"/>
          </a:xfrm>
          <a:prstGeom prst="rect">
            <a:avLst/>
          </a:prstGeom>
          <a:solidFill>
            <a:srgbClr val="2BB39A"/>
          </a:solidFill>
          <a:ln/>
        </p:spPr>
      </p:sp>
      <p:sp>
        <p:nvSpPr>
          <p:cNvPr id="3" name="Text 1"/>
          <p:cNvSpPr/>
          <p:nvPr>
            <p:ph type="title"/>
          </p:nvPr>
        </p:nvSpPr>
        <p:spPr>
          <a:xfrm>
            <a:off x="812767" y="812763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4F2EC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Business impact, honest limits, what's next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3350" y="1519242"/>
          <a:ext cx="10555883" cy="2122330"/>
        </p:xfrm>
        <a:graphic>
          <a:graphicData uri="http://schemas.openxmlformats.org/drawingml/2006/table">
            <a:tbl>
              <a:tblPr/>
              <a:tblGrid>
                <a:gridCol w="1477824"/>
                <a:gridCol w="4539029"/>
                <a:gridCol w="4539029"/>
              </a:tblGrid>
              <a:tr h="357229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Ticket triage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Partner channel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444"/>
                    </a:solidFill>
                  </a:tcPr>
                </a:tc>
              </a:tr>
              <a:tr h="58836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Impact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Routing cost about 15% lower; urgent tickets reach the right team or a human.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91 partners to call before Q3, each with a reason; a realistic Q3 plan with a range.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F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36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Limits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Priority is the weakest task (F1 0.759); German and Malay tickets are handed off.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Most quiet partners come back; AMS drives 63% of the forecast.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36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Next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Add business-impact signals; compare an LLM zero-shot via the gateway.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E3E6EC"/>
                          </a:solidFill>
                          <a:latin typeface="Source Serif 4" pitchFamily="18" charset="0"/>
                          <a:ea typeface="Source Serif 4" pitchFamily="18" charset="-122"/>
                          <a:cs typeface="Source Serif 4" pitchFamily="18" charset="-120"/>
                        </a:rPr>
                        <a:t>Track the flagged partners' Q3 outcome; LLM narratives grounded in our numbers.</a:t>
                      </a:r>
                      <a:endParaRPr lang="en-US" sz="1300" dirty="0">
                        <a:latin typeface="Source Serif 4" charset="0"/>
                        <a:ea typeface="Source Serif 4" charset="0"/>
                        <a:cs typeface="Source Serif 4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E53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767" y="3870151"/>
            <a:ext cx="10883460" cy="41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B39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Thank you. Questions?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12767" y="6238292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A9B1B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Both problems ·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E AI Hackathon – Ticket Triage &amp; Partner Channel Health">
  <a:themeElements>
    <a:clrScheme name="HPE AI Hackathon – Ticket Triage &amp; Partner Channel Health">
      <a:dk1>
        <a:srgbClr val="1E2430"/>
      </a:dk1>
      <a:lt1>
        <a:srgbClr val="E9EDF0"/>
      </a:lt1>
      <a:dk2>
        <a:srgbClr val="515660"/>
      </a:dk2>
      <a:lt2>
        <a:srgbClr val="D5D9DD"/>
      </a:lt2>
      <a:accent1>
        <a:srgbClr val="136B5B"/>
      </a:accent1>
      <a:accent2>
        <a:srgbClr val="A8531E"/>
      </a:accent2>
      <a:accent3>
        <a:srgbClr val="2BB39A"/>
      </a:accent3>
      <a:accent4>
        <a:srgbClr val="7FD9C4"/>
      </a:accent4>
      <a:accent5>
        <a:srgbClr val="17534E"/>
      </a:accent5>
      <a:accent6>
        <a:srgbClr val="0F3D3A"/>
      </a:accent6>
      <a:hlink>
        <a:srgbClr val="0563C1"/>
      </a:hlink>
      <a:folHlink>
        <a:srgbClr val="954F72"/>
      </a:folHlink>
    </a:clrScheme>
    <a:fontScheme name="HPE AI Hackathon – Ticket Triage &amp; Partner Channel Health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erif 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HPE AI Hackathon – Ticket Triage &amp; Partner Channel Health</dc:title>
  <dc:subject/>
  <dc:creator/>
  <cp:lastModifiedBy/>
  <cp:revision>1</cp:revision>
  <dcterms:created xsi:type="dcterms:W3CDTF">2026-10-01T09:31:45Z</dcterms:created>
  <dcterms:modified xsi:type="dcterms:W3CDTF">2026-10-01T09:31:45Z</dcterms:modified>
</cp:coreProperties>
</file>